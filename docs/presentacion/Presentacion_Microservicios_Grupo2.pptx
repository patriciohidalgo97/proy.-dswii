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Carátula (20 s). Saludar, decir nombres del grupo 2 y el título. Presentar brevemente de qué trata el proyecto: dividimos el monolito de gestión en microservicios sin cambiar la lógica ni el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y lore (35 s). Explicar que el sistema ya existía como monolito y que el profesor pidió pasarlo a microservicios, manteniendo todo igual hacia afuera.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Problema y meta (40 s). Que quede claro por qué dividimos y cuáles son los límites: mismos endpoints, mismos permisos, monolito como respaldo.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Arquitectura (50 s). Recorrer la flecha: Angular habla solo con el gateway, y el gateway reparte entre identity, catalog y cash. Cada servicio tiene su propia base de datos. Destacar que no hay Eureka, ni Kafka, ni contenedores: decisión de simplicidad.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Stack (50 s). No leer toda la tabla: destacar Angular sin reescribir, Spring Boot/JWT/MySQL que ya conocían, Flyway para bases reproducibles, y por qué no pusimos Eureka/Kafka/Docker (simplicidad operativa).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(10 s). Queda claro quién expone qué y en qué orden.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I1-A (45 s). Mostrar login, explicar BCrypt + JWT y los dos roles. Captura: sesión iniciada como administrador.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I1-B (45 s). Gateway como puerta única; mostrar los 10 rutas y un 404 intencional.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I2-A (45 s). Los cinco catálogos y las reglas de negocio que no cambiaron.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I2-B (45 s). Principio de un dueño por dato y snapshots; evita acoplar bases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I3-A (45 s). Flujo completo de cobranza: generar, seleccionar, pagar/exonerar y voucher.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I3-B (45 s). Correlativos transaccionales y el alcance académico: no hay banco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I4-A (45 s). Egresos, CSV y reportes XLSX; aclarar que el módulo bancario es simulación académica.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I4-B (45 s). Qué cambió en el frontend: una línea de configuración; nada de pantallas reescritas.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I5-A (45 s). Explicar el patrón strangler y los 4 estados; énfasis en que nunca se apagó el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I5-B (45 s). Evidencia de calidad: Swagger, Postman, pruebas y salud de los servicios.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Resultados (25 s). Repasar los KPI rápidos y las lecciones; no entrar en detalle de cada 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548640"/>
            <a:ext cx="3413455" cy="5760720"/>
          </a:xfrm>
          <a:prstGeom prst="rect">
            <a:avLst/>
          </a:prstGeom>
          <a:solidFill>
            <a:srgbClr val="1A3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89720" y="960120"/>
            <a:ext cx="2606040" cy="9144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89720" y="1188720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0F54BB"/>
                </a:solidFill>
                <a:latin typeface="Segoe UI"/>
              </a:rPr>
              <a:t>GRUPO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76809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9FC0FF"/>
                </a:solidFill>
                <a:latin typeface="Segoe UI"/>
              </a:rPr>
              <a:t>Proyecto de cierre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7772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Del monolito a microservicios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10128"/>
            <a:ext cx="7863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CFDDEA"/>
                </a:solidFill>
                <a:latin typeface="Segoe UI"/>
              </a:rPr>
              <a:t>Sistema de Gestión Administrativa y de Caja — arquitectura dividida en identidad, catálogo y caja detrás de un API Gateway.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224528"/>
            <a:ext cx="1463040" cy="41148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709160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769E0"/>
                </a:solidFill>
                <a:latin typeface="Segoe UI"/>
              </a:rPr>
              <a:t>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47091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Hidalgo Salas, José Patricio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9784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769E0"/>
                </a:solidFill>
                <a:latin typeface="Segoe UI"/>
              </a:rPr>
              <a:t>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5129784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Calizaya Alvarez, Gerardo Matías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50408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769E0"/>
                </a:solidFill>
                <a:latin typeface="Segoe UI"/>
              </a:rPr>
              <a:t>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5550408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Pajuelo Chipana, Juan Alonso Esteban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71032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769E0"/>
                </a:solidFill>
                <a:latin typeface="Segoe UI"/>
              </a:rPr>
              <a:t>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5971032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Tupa Churata, Salvador Roque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391656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769E0"/>
                </a:solidFill>
                <a:latin typeface="Segoe UI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6391656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Carrillo Bautista, Oscar Eduardo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26364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EC1D6"/>
                </a:solidFill>
                <a:latin typeface="Segoe UI"/>
              </a:rPr>
              <a:t>Curso: Desarrollo de Servicios Web II (DSW II) · Ciclo 6 · Lima, Perú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62636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EC1D6"/>
                </a:solidFill>
                <a:latin typeface="Segoe UI"/>
              </a:rPr>
              <a:t>Exposición grupal · ~10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502920" cy="50292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769E0"/>
                </a:solidFill>
                <a:latin typeface="Segoe UI"/>
              </a:rPr>
              <a:t>EL CASO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100" b="1" i="0">
                <a:solidFill>
                  <a:srgbClr val="10253F"/>
                </a:solidFill>
                <a:latin typeface="Segoe UI"/>
              </a:rPr>
              <a:t>Un mercado que cobra, y necesita orden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57089"/>
                </a:solidFill>
                <a:latin typeface="Segoe UI"/>
              </a:rPr>
              <a:t>Nació como un monolito académico para una asociación de comerciantes; el profesor pidió llevarlo a microservicios con API Gateway.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394960" cy="4160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47672"/>
            <a:ext cx="64008" cy="3831335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84248"/>
            <a:ext cx="48280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0253F"/>
                </a:solidFill>
                <a:latin typeface="Segoe UI"/>
              </a:rPr>
              <a:t>Qué hace el sistema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86584"/>
            <a:ext cx="4846320" cy="3465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Socios:** registro, edición y consulta de asociados.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Giros, puestos y servicios:** cada puesto tiene un giro y servicios cobrables (fijos o por consumo).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Cobranza:** se generan cuentas individuales y masivas; se pagan o exoneran deudas en lote.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Caja:** recibos correlativos, canjes bancarios simulados e ingresos externos.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Tesorería:** egresos individuales o por CSV y reportes XLSX.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239512" cy="2103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947672"/>
            <a:ext cx="64008" cy="1773936"/>
          </a:xfrm>
          <a:prstGeom prst="rect">
            <a:avLst/>
          </a:prstGeom>
          <a:solidFill>
            <a:srgbClr val="187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984248"/>
            <a:ext cx="46725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0253F"/>
                </a:solidFill>
                <a:latin typeface="Segoe UI"/>
              </a:rPr>
              <a:t>El ciclo del negocio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386584"/>
            <a:ext cx="4690872" cy="1408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8794E"/>
                </a:solidFill>
                <a:latin typeface="Segoe UI"/>
              </a:rPr>
              <a:t>▸  </a:t>
            </a:r>
            <a:r>
              <a:rPr sz="1250">
                <a:solidFill>
                  <a:srgbClr val="172033"/>
                </a:solidFill>
                <a:latin typeface="Segoe UI"/>
              </a:rPr>
              <a:t>Catálogos → Deudas → Cobranza y caja → Reportes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4041648"/>
            <a:ext cx="1024128" cy="475488"/>
          </a:xfrm>
          <a:prstGeom prst="roundRect">
            <a:avLst>
              <a:gd name="adj" fmla="val 25000"/>
            </a:avLst>
          </a:prstGeom>
          <a:solidFill>
            <a:srgbClr val="E8F0FD"/>
          </a:solidFill>
          <a:ln w="95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123944"/>
            <a:ext cx="10241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0253F"/>
                </a:solidFill>
                <a:latin typeface="Segoe UI"/>
              </a:rPr>
              <a:t>Catálogos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616952" y="4155948"/>
            <a:ext cx="237744" cy="128016"/>
          </a:xfrm>
          <a:prstGeom prst="rightArrow">
            <a:avLst/>
          </a:prstGeom>
          <a:solidFill>
            <a:srgbClr val="657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91272" y="4041648"/>
            <a:ext cx="1024128" cy="475488"/>
          </a:xfrm>
          <a:prstGeom prst="roundRect">
            <a:avLst>
              <a:gd name="adj" fmla="val 25000"/>
            </a:avLst>
          </a:prstGeom>
          <a:solidFill>
            <a:srgbClr val="E8F0FD"/>
          </a:solidFill>
          <a:ln w="95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1272" y="4123944"/>
            <a:ext cx="10241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0253F"/>
                </a:solidFill>
                <a:latin typeface="Segoe UI"/>
              </a:rPr>
              <a:t>Deudas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970264" y="4155948"/>
            <a:ext cx="237744" cy="128016"/>
          </a:xfrm>
          <a:prstGeom prst="rightArrow">
            <a:avLst/>
          </a:prstGeom>
          <a:solidFill>
            <a:srgbClr val="657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44584" y="4041648"/>
            <a:ext cx="1024128" cy="475488"/>
          </a:xfrm>
          <a:prstGeom prst="roundRect">
            <a:avLst>
              <a:gd name="adj" fmla="val 25000"/>
            </a:avLst>
          </a:prstGeom>
          <a:solidFill>
            <a:srgbClr val="E8F0FD"/>
          </a:solidFill>
          <a:ln w="95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4584" y="4123944"/>
            <a:ext cx="10241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0253F"/>
                </a:solidFill>
                <a:latin typeface="Segoe UI"/>
              </a:rPr>
              <a:t>Cobranza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323576" y="4155948"/>
            <a:ext cx="237744" cy="128016"/>
          </a:xfrm>
          <a:prstGeom prst="rightArrow">
            <a:avLst/>
          </a:prstGeom>
          <a:solidFill>
            <a:srgbClr val="657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597896" y="4041648"/>
            <a:ext cx="1024128" cy="475488"/>
          </a:xfrm>
          <a:prstGeom prst="roundRect">
            <a:avLst>
              <a:gd name="adj" fmla="val 25000"/>
            </a:avLst>
          </a:prstGeom>
          <a:solidFill>
            <a:srgbClr val="E8F0FD"/>
          </a:solidFill>
          <a:ln w="95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97896" y="4123944"/>
            <a:ext cx="102412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0253F"/>
                </a:solidFill>
                <a:latin typeface="Segoe UI"/>
              </a:rPr>
              <a:t>Reportes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005072"/>
            <a:ext cx="5239512" cy="193852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169663"/>
            <a:ext cx="64008" cy="1609344"/>
          </a:xfrm>
          <a:prstGeom prst="rect">
            <a:avLst/>
          </a:prstGeom>
          <a:solidFill>
            <a:srgbClr val="10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59" y="4206240"/>
            <a:ext cx="46725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0253F"/>
                </a:solidFill>
                <a:latin typeface="Segoe UI"/>
              </a:rPr>
              <a:t>El reto del grupo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4608576"/>
            <a:ext cx="4690872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0253F"/>
                </a:solidFill>
                <a:latin typeface="Segoe UI"/>
              </a:rPr>
              <a:t>▸  </a:t>
            </a:r>
            <a:r>
              <a:rPr sz="1250">
                <a:solidFill>
                  <a:srgbClr val="172033"/>
                </a:solidFill>
                <a:latin typeface="Segoe UI"/>
              </a:rPr>
              <a:t>Mismo contrato HTTP, mismas validaciones y permisos.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0253F"/>
                </a:solidFill>
                <a:latin typeface="Segoe UI"/>
              </a:rPr>
              <a:t>▸  </a:t>
            </a:r>
            <a:r>
              <a:rPr sz="1250">
                <a:solidFill>
                  <a:srgbClr val="172033"/>
                </a:solidFill>
                <a:latin typeface="Segoe UI"/>
              </a:rPr>
              <a:t>Servicios independientes, cada uno con su base de datos.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0253F"/>
                </a:solidFill>
                <a:latin typeface="Segoe UI"/>
              </a:rPr>
              <a:t>▸  </a:t>
            </a:r>
            <a:r>
              <a:rPr sz="1250">
                <a:solidFill>
                  <a:srgbClr val="172033"/>
                </a:solidFill>
                <a:latin typeface="Segoe UI"/>
              </a:rPr>
              <a:t>Sin reescribir el frontend Angular.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502920" cy="50292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769E0"/>
                </a:solidFill>
                <a:latin typeface="Segoe UI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100" b="1" i="0">
                <a:solidFill>
                  <a:srgbClr val="10253F"/>
                </a:solidFill>
                <a:latin typeface="Segoe UI"/>
              </a:rPr>
              <a:t>Un monolito: cómodo al inicio, pesado al crecer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57089"/>
                </a:solidFill>
                <a:latin typeface="Segoe UI"/>
              </a:rPr>
              <a:t>Todo funcionaba, pero acoplado, frágil y difícil de repartir entre 5 personas.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257800" cy="4069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47672"/>
            <a:ext cx="64008" cy="3739896"/>
          </a:xfrm>
          <a:prstGeom prst="rect">
            <a:avLst/>
          </a:prstGeom>
          <a:solidFill>
            <a:srgbClr val="C4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84248"/>
            <a:ext cx="46908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0253F"/>
                </a:solidFill>
                <a:latin typeface="Segoe UI"/>
              </a:rPr>
              <a:t>Dolores del monolito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86584"/>
            <a:ext cx="4709160" cy="3374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C43D3D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Un solo despliegue:** si falla la caja, cae todo el sistema.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C43D3D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Una base para todo:** catálogo y dinero están acoplados.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C43D3D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Cambios pequeños** obligan a recompilar y desplegar todo.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C43D3D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Difícil de dividir:** 5 personas tocando el mismo código.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239512" cy="4069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947672"/>
            <a:ext cx="64008" cy="3739896"/>
          </a:xfrm>
          <a:prstGeom prst="rect">
            <a:avLst/>
          </a:prstGeom>
          <a:solidFill>
            <a:srgbClr val="187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984248"/>
            <a:ext cx="46725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0253F"/>
                </a:solidFill>
                <a:latin typeface="Segoe UI"/>
              </a:rPr>
              <a:t>La meta del proyecto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386584"/>
            <a:ext cx="4690872" cy="3374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8794E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Servicios por dominio:** identidad, catálogo y caja, cada uno independiente.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8794E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Cada servicio, su base de datos:** sin claves foráneas cruzadas.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8794E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API Gateway:** una sola puerta de entrada para el frontend.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8794E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El monolito queda como respaldo** (9090), sin recibir tráfico del frontend.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961888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1">
                <a:solidFill>
                  <a:srgbClr val="657089"/>
                </a:solidFill>
                <a:latin typeface="Segoe UI"/>
              </a:rPr>
              <a:t>Regla de oro del proyecto: no cambiar la lógica de negocio ni el formato del JSON que consume el frontend.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502920" cy="50292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769E0"/>
                </a:solidFill>
                <a:latin typeface="Segoe UI"/>
              </a:rPr>
              <a:t>ARQUITECTURA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100" b="1" i="0">
                <a:solidFill>
                  <a:srgbClr val="10253F"/>
                </a:solidFill>
                <a:latin typeface="Segoe UI"/>
              </a:rPr>
              <a:t>Angular → Gateway → 3 microservicios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57089"/>
                </a:solidFill>
                <a:latin typeface="Segoe UI"/>
              </a:rPr>
              <a:t>Estado 3 del patrón strangler: toda la API pública vive ya en microservicios.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2395728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47672"/>
            <a:ext cx="64008" cy="1362456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84248"/>
            <a:ext cx="1828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0253F"/>
                </a:solidFill>
                <a:latin typeface="Segoe UI"/>
              </a:rPr>
              <a:t>Angular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86000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57089"/>
                </a:solidFill>
                <a:latin typeface="Segoe UI"/>
              </a:rPr>
              <a:t>puerto :4400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569464"/>
            <a:ext cx="193852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2033"/>
                </a:solidFill>
                <a:latin typeface="Segoe UI"/>
              </a:rPr>
              <a:t>13 pantallas · 10 servicios HTTP · interceptor JWT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200400"/>
            <a:ext cx="19385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0F54BB"/>
                </a:solidFill>
                <a:latin typeface="Segoe UI"/>
              </a:rPr>
              <a:t>Frontend SPA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01168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Angular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30428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9FC0FF"/>
                </a:solidFill>
                <a:latin typeface="Segoe UI"/>
              </a:rPr>
              <a:t>puerto 4400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615184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CFDDEA"/>
                </a:solidFill>
                <a:latin typeface="Segoe UI"/>
              </a:rPr>
              <a:t>13 pantallas · 10 servicios HTTP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CFDDEA"/>
                </a:solidFill>
                <a:latin typeface="Segoe UI"/>
              </a:rPr>
              <a:t>interceptor JWT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246120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0F54BB"/>
                </a:solidFill>
                <a:latin typeface="Segoe UI"/>
              </a:rPr>
              <a:t>Frontend SPA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1783080"/>
            <a:ext cx="2212848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03320" y="1947672"/>
            <a:ext cx="64008" cy="1362456"/>
          </a:xfrm>
          <a:prstGeom prst="rect">
            <a:avLst/>
          </a:prstGeom>
          <a:solidFill>
            <a:srgbClr val="0F5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77639" y="1984248"/>
            <a:ext cx="16459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0253F"/>
                </a:solidFill>
                <a:latin typeface="Segoe UI"/>
              </a:rPr>
              <a:t>API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95928" y="2286000"/>
            <a:ext cx="1755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57089"/>
                </a:solidFill>
                <a:latin typeface="Segoe UI"/>
              </a:rPr>
              <a:t>puerto :9101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95928" y="2569464"/>
            <a:ext cx="17556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2033"/>
                </a:solidFill>
                <a:latin typeface="Segoe UI"/>
              </a:rPr>
              <a:t>10 rutas · /api/auth, socios, cash…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2033"/>
                </a:solidFill>
                <a:latin typeface="Segoe UI"/>
              </a:rPr>
              <a:t>prefijo desconocido → 404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95928" y="3200400"/>
            <a:ext cx="17556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0F54BB"/>
                </a:solidFill>
                <a:latin typeface="Segoe UI"/>
              </a:rPr>
              <a:t>Sin Eureka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783080"/>
            <a:ext cx="2926080" cy="114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1947672"/>
            <a:ext cx="64008" cy="813816"/>
          </a:xfrm>
          <a:prstGeom prst="rect">
            <a:avLst/>
          </a:prstGeom>
          <a:solidFill>
            <a:srgbClr val="76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59" y="1984248"/>
            <a:ext cx="23591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0253F"/>
                </a:solidFill>
                <a:latin typeface="Segoe UI"/>
              </a:rPr>
              <a:t>identity-service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228600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57089"/>
                </a:solidFill>
                <a:latin typeface="Segoe UI"/>
              </a:rPr>
              <a:t>puerto :9102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2569464"/>
            <a:ext cx="2468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2033"/>
                </a:solidFill>
                <a:latin typeface="Segoe UI"/>
              </a:rPr>
              <a:t>/api/auth — login y token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2651760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0F54BB"/>
                </a:solidFill>
                <a:latin typeface="Segoe UI"/>
              </a:rPr>
              <a:t>gestion_auth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3063240"/>
            <a:ext cx="2926080" cy="114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3227832"/>
            <a:ext cx="64008" cy="813816"/>
          </a:xfrm>
          <a:prstGeom prst="rect">
            <a:avLst/>
          </a:prstGeom>
          <a:solidFill>
            <a:srgbClr val="187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59" y="3264408"/>
            <a:ext cx="23591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0253F"/>
                </a:solidFill>
                <a:latin typeface="Segoe UI"/>
              </a:rPr>
              <a:t>catalog-service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356616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57089"/>
                </a:solidFill>
                <a:latin typeface="Segoe UI"/>
              </a:rPr>
              <a:t>puerto :9103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3849624"/>
            <a:ext cx="2468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2033"/>
                </a:solidFill>
                <a:latin typeface="Segoe UI"/>
              </a:rPr>
              <a:t>socios, giros, puestos, servicios, bancos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4848" y="3931920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0F54BB"/>
                </a:solidFill>
                <a:latin typeface="Segoe UI"/>
              </a:rPr>
              <a:t>gestion_catalog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4343400"/>
            <a:ext cx="2926080" cy="1143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92240" y="4507992"/>
            <a:ext cx="64008" cy="813816"/>
          </a:xfrm>
          <a:prstGeom prst="rect">
            <a:avLst/>
          </a:prstGeom>
          <a:solidFill>
            <a:srgbClr val="DC7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59" y="4544568"/>
            <a:ext cx="235915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0253F"/>
                </a:solidFill>
                <a:latin typeface="Segoe UI"/>
              </a:rPr>
              <a:t>cash-service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84848" y="484632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57089"/>
                </a:solidFill>
                <a:latin typeface="Segoe UI"/>
              </a:rPr>
              <a:t>puerto :9104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84848" y="5129784"/>
            <a:ext cx="2468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72033"/>
                </a:solidFill>
                <a:latin typeface="Segoe UI"/>
              </a:rPr>
              <a:t>cuentas, recibos, egresos, reportes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5212080"/>
            <a:ext cx="2468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0F54BB"/>
                </a:solidFill>
                <a:latin typeface="Segoe UI"/>
              </a:rPr>
              <a:t>gestion_cash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53328" y="2331720"/>
            <a:ext cx="36576" cy="3840480"/>
          </a:xfrm>
          <a:prstGeom prst="rect">
            <a:avLst/>
          </a:prstGeom>
          <a:solidFill>
            <a:srgbClr val="DF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Arrow 40"/>
          <p:cNvSpPr/>
          <p:nvPr/>
        </p:nvSpPr>
        <p:spPr>
          <a:xfrm>
            <a:off x="6099048" y="2839212"/>
            <a:ext cx="347472" cy="164592"/>
          </a:xfrm>
          <a:prstGeom prst="rightArrow">
            <a:avLst/>
          </a:prstGeom>
          <a:solidFill>
            <a:srgbClr val="657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6099048" y="4119372"/>
            <a:ext cx="347472" cy="164592"/>
          </a:xfrm>
          <a:prstGeom prst="rightArrow">
            <a:avLst/>
          </a:prstGeom>
          <a:solidFill>
            <a:srgbClr val="657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6099048" y="5399532"/>
            <a:ext cx="347472" cy="164592"/>
          </a:xfrm>
          <a:prstGeom prst="rightArrow">
            <a:avLst/>
          </a:prstGeom>
          <a:solidFill>
            <a:srgbClr val="657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697480" y="2331720"/>
            <a:ext cx="36576" cy="1691640"/>
          </a:xfrm>
          <a:prstGeom prst="rect">
            <a:avLst/>
          </a:prstGeom>
          <a:solidFill>
            <a:srgbClr val="DF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2743200" y="3090672"/>
            <a:ext cx="384048" cy="164592"/>
          </a:xfrm>
          <a:prstGeom prst="rightArrow">
            <a:avLst/>
          </a:prstGeom>
          <a:solidFill>
            <a:srgbClr val="657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5806440"/>
            <a:ext cx="108173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57089"/>
                </a:solidFill>
                <a:latin typeface="Segoe UI"/>
              </a:rPr>
              <a:t>Flujo: navegador (:4400) → gateway (:9101) → identity / catalog / cash. El monolito en :9090 sigue levantado como respaldo manual, pero el frontend ya no lo llama.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502920" cy="50292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769E0"/>
                </a:solidFill>
                <a:latin typeface="Segoe UI"/>
              </a:rPr>
              <a:t>STACK TECNOLÓGICO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100" b="1" i="0">
                <a:solidFill>
                  <a:srgbClr val="10253F"/>
                </a:solidFill>
                <a:latin typeface="Segoe UI"/>
              </a:rPr>
              <a:t>¿Con qué lo construimos y por qué?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57089"/>
                </a:solidFill>
                <a:latin typeface="Segoe UI"/>
              </a:rPr>
              <a:t>Tecnologías elegidas por el equipo, cada una con su justificación.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10817352" cy="384048"/>
          </a:xfrm>
          <a:prstGeom prst="rect">
            <a:avLst/>
          </a:prstGeom>
          <a:solidFill>
            <a:srgbClr val="10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6022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Tecnología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760220"/>
            <a:ext cx="3794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Para qué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760220"/>
            <a:ext cx="4233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Por qué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075688"/>
            <a:ext cx="108173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57984"/>
            <a:ext cx="26060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0253F"/>
                </a:solidFill>
                <a:latin typeface="Segoe UI"/>
              </a:rPr>
              <a:t>Angular 21 + TypeScript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57984"/>
            <a:ext cx="3611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2033"/>
                </a:solidFill>
                <a:latin typeface="Segoe UI"/>
              </a:rPr>
              <a:t>Frontend SPA, 13 pantallas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157984"/>
            <a:ext cx="405079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57089"/>
                </a:solidFill>
                <a:latin typeface="Segoe UI"/>
              </a:rPr>
              <a:t>Ya existía; reescribir solo agregaba riesgo. Un cambio de línea apuntó al gateway.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551176"/>
            <a:ext cx="10817352" cy="475488"/>
          </a:xfrm>
          <a:prstGeom prst="rect">
            <a:avLst/>
          </a:prstGeom>
          <a:solidFill>
            <a:srgbClr val="E8F0FD"/>
          </a:solidFill>
          <a:ln w="635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633472"/>
            <a:ext cx="26060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0253F"/>
                </a:solidFill>
                <a:latin typeface="Segoe UI"/>
              </a:rPr>
              <a:t>Spring Boot 3.5 (Java 21)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633472"/>
            <a:ext cx="3611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2033"/>
                </a:solidFill>
                <a:latin typeface="Segoe UI"/>
              </a:rPr>
              <a:t>Base de los 4 servicios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2633472"/>
            <a:ext cx="405079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57089"/>
                </a:solidFill>
                <a:latin typeface="Segoe UI"/>
              </a:rPr>
              <a:t>El equipo ya lo dominaba; ecosistema maduro y probado.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026664"/>
            <a:ext cx="108173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108960"/>
            <a:ext cx="26060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0253F"/>
                </a:solidFill>
                <a:latin typeface="Segoe UI"/>
              </a:rPr>
              <a:t>Spring Cloud Gateway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108960"/>
            <a:ext cx="3611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2033"/>
                </a:solidFill>
                <a:latin typeface="Segoe UI"/>
              </a:rPr>
              <a:t>Punto de entrada único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3108960"/>
            <a:ext cx="405079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57089"/>
                </a:solidFill>
                <a:latin typeface="Segoe UI"/>
              </a:rPr>
              <a:t>Ruteo por prefijo sin servidor de descubrimiento (sin Eureka).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502152"/>
            <a:ext cx="10817352" cy="475488"/>
          </a:xfrm>
          <a:prstGeom prst="rect">
            <a:avLst/>
          </a:prstGeom>
          <a:solidFill>
            <a:srgbClr val="E8F0FD"/>
          </a:solidFill>
          <a:ln w="635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584448"/>
            <a:ext cx="26060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0253F"/>
                </a:solidFill>
                <a:latin typeface="Segoe UI"/>
              </a:rPr>
              <a:t>Spring Security + JWT + BCrypt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584448"/>
            <a:ext cx="3611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2033"/>
                </a:solidFill>
                <a:latin typeface="Segoe UI"/>
              </a:rPr>
              <a:t>Autenticación y roles ADMIN/OPERADOR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584448"/>
            <a:ext cx="405079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57089"/>
                </a:solidFill>
                <a:latin typeface="Segoe UI"/>
              </a:rPr>
              <a:t>Mismo JWT en los 4 servicios; contraseñas nunca en claro.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977639"/>
            <a:ext cx="108173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059935"/>
            <a:ext cx="26060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0253F"/>
                </a:solidFill>
                <a:latin typeface="Segoe UI"/>
              </a:rPr>
              <a:t>Spring Data JPA + MySQL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059935"/>
            <a:ext cx="3611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2033"/>
                </a:solidFill>
                <a:latin typeface="Segoe UI"/>
              </a:rPr>
              <a:t>Persistencia relacional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059935"/>
            <a:ext cx="405079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57089"/>
                </a:solidFill>
                <a:latin typeface="Segoe UI"/>
              </a:rPr>
              <a:t>Una base de datos por servicio; consultas propias del negocio.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453127"/>
            <a:ext cx="10817352" cy="475488"/>
          </a:xfrm>
          <a:prstGeom prst="rect">
            <a:avLst/>
          </a:prstGeom>
          <a:solidFill>
            <a:srgbClr val="E8F0FD"/>
          </a:solidFill>
          <a:ln w="635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535423"/>
            <a:ext cx="26060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0253F"/>
                </a:solidFill>
                <a:latin typeface="Segoe UI"/>
              </a:rPr>
              <a:t>Flyway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535423"/>
            <a:ext cx="3611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2033"/>
                </a:solidFill>
                <a:latin typeface="Segoe UI"/>
              </a:rPr>
              <a:t>Migraciones versionadas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4535423"/>
            <a:ext cx="405079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57089"/>
                </a:solidFill>
                <a:latin typeface="Segoe UI"/>
              </a:rPr>
              <a:t>Las 3 bases se crean desde cero con scripts, sin tocar a mano.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4928615"/>
            <a:ext cx="108173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010911"/>
            <a:ext cx="26060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0253F"/>
                </a:solidFill>
                <a:latin typeface="Segoe UI"/>
              </a:rPr>
              <a:t>springdoc OpenAPI + Apache POI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5010911"/>
            <a:ext cx="3611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172033"/>
                </a:solidFill>
                <a:latin typeface="Segoe UI"/>
              </a:rPr>
              <a:t>Contrato visible y reportes XLSX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5010911"/>
            <a:ext cx="405079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57089"/>
                </a:solidFill>
                <a:latin typeface="Segoe UI"/>
              </a:rPr>
              <a:t>Swagger por servicio y exportación a Excel para el cliente.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989320"/>
            <a:ext cx="108173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657089"/>
                </a:solidFill>
                <a:latin typeface="Segoe UI"/>
              </a:rPr>
              <a:t>Nota: todo se configura por variables de entorno (puertos, credenciales, URLs, JWT_SECRET); ningún valor se fija en el código.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502920" cy="50292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769E0"/>
                </a:solidFill>
                <a:latin typeface="Segoe UI"/>
              </a:rPr>
              <a:t>RECORRIDO DE LA EXPOSICIÓN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100" b="1" i="0">
                <a:solidFill>
                  <a:srgbClr val="10253F"/>
                </a:solidFill>
                <a:latin typeface="Segoe UI"/>
              </a:rPr>
              <a:t>Cinco bloques, uno por integrante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57089"/>
                </a:solidFill>
                <a:latin typeface="Segoe UI"/>
              </a:rPr>
              <a:t>~10 minutos en total; cada persona lleva su parte y conoce el flujo general.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820095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64008" cy="749808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769E0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874519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0253F"/>
                </a:solidFill>
                <a:latin typeface="Segoe UI"/>
              </a:rPr>
              <a:t>Entrada y seguridad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1945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57089"/>
                </a:solidFill>
                <a:latin typeface="Segoe UI"/>
              </a:rPr>
              <a:t>Login, JWT y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029967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769E0"/>
                </a:solidFill>
                <a:latin typeface="Segoe UI"/>
              </a:rPr>
              <a:t>Patricio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60904"/>
            <a:ext cx="10820095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660904"/>
            <a:ext cx="64008" cy="749808"/>
          </a:xfrm>
          <a:prstGeom prst="rect">
            <a:avLst/>
          </a:prstGeom>
          <a:solidFill>
            <a:srgbClr val="187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1693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8794E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752344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0253F"/>
                </a:solidFill>
                <a:latin typeface="Segoe UI"/>
              </a:rPr>
              <a:t>Datos maestros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07238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57089"/>
                </a:solidFill>
                <a:latin typeface="Segoe UI"/>
              </a:rPr>
              <a:t>Catálogos y fronteras de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90779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8794E"/>
                </a:solidFill>
                <a:latin typeface="Segoe UI"/>
              </a:rPr>
              <a:t>Gerardo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38728"/>
            <a:ext cx="10820095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538728"/>
            <a:ext cx="64008" cy="749808"/>
          </a:xfrm>
          <a:prstGeom prst="rect">
            <a:avLst/>
          </a:prstGeom>
          <a:solidFill>
            <a:srgbClr val="DC7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7947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C7726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63016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0253F"/>
                </a:solidFill>
                <a:latin typeface="Segoe UI"/>
              </a:rPr>
              <a:t>Dinero y cobranza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395020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57089"/>
                </a:solidFill>
                <a:latin typeface="Segoe UI"/>
              </a:rPr>
              <a:t>Cuentas, recibos y correlativos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78561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C7726"/>
                </a:solidFill>
                <a:latin typeface="Segoe UI"/>
              </a:rPr>
              <a:t>Juan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416552"/>
            <a:ext cx="10820095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4416552"/>
            <a:ext cx="64008" cy="749808"/>
          </a:xfrm>
          <a:prstGeom prst="rect">
            <a:avLst/>
          </a:prstGeom>
          <a:solidFill>
            <a:srgbClr val="76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67258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7657D6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4507992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0253F"/>
                </a:solidFill>
                <a:latin typeface="Segoe UI"/>
              </a:rPr>
              <a:t>Vista y reportes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482803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57089"/>
                </a:solidFill>
                <a:latin typeface="Segoe UI"/>
              </a:rPr>
              <a:t>Tesorería, egresos y frontend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6634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7657D6"/>
                </a:solidFill>
                <a:latin typeface="Segoe UI"/>
              </a:rPr>
              <a:t>Salvador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294376"/>
            <a:ext cx="10820095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5294376"/>
            <a:ext cx="64008" cy="749808"/>
          </a:xfrm>
          <a:prstGeom prst="rect">
            <a:avLst/>
          </a:prstGeom>
          <a:solidFill>
            <a:srgbClr val="10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55040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0253F"/>
                </a:solidFill>
                <a:latin typeface="Segoe U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1328" y="5385816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0253F"/>
                </a:solidFill>
                <a:latin typeface="Segoe UI"/>
              </a:rPr>
              <a:t>Migración y calidad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81328" y="57058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57089"/>
                </a:solidFill>
                <a:latin typeface="Segoe UI"/>
              </a:rPr>
              <a:t>Strangler, Swagger, Postman, Flyway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5412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0253F"/>
                </a:solidFill>
                <a:latin typeface="Segoe UI"/>
              </a:rPr>
              <a:t>Oscar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989320"/>
            <a:ext cx="10817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1">
                <a:solidFill>
                  <a:srgbClr val="657089"/>
                </a:solidFill>
                <a:latin typeface="Segoe UI"/>
              </a:rPr>
              <a:t>Orden sugerido: carátula → caso → problema → arquitectura → stack → cada integrante → cierre.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502920" cy="50292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769E0"/>
                </a:solidFill>
                <a:latin typeface="Segoe UI"/>
              </a:rPr>
              <a:t>INTEGRANTE 1 · JOSÉ PATRICIO HIDALGO SALAS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100" b="1" i="0">
                <a:solidFill>
                  <a:srgbClr val="10253F"/>
                </a:solidFill>
                <a:latin typeface="Segoe UI"/>
              </a:rPr>
              <a:t>Seguridad: el token que abre todas las puertas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57089"/>
                </a:solidFill>
                <a:latin typeface="Segoe UI"/>
              </a:rPr>
              <a:t>identidad-service · /api/auth · login y roles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55648"/>
            <a:ext cx="5760720" cy="4526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64008" cy="4197096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56816"/>
            <a:ext cx="5212080" cy="4233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Login:** usuario y contraseña van a identity-service; BCrypt compara el hash, nunca guarda la clave.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JWT:** devuelve un token firmado con sub, usuarioId, nombres, apellidos y rol.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Un solo secreto:** los 4 servicios validan el mismo JWT_SECRET, no consultan la base de usuarios.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Roles:** ADMIN (todo) y OPERADOR (caja, sin anular).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Sin permiso:** 401 sin token y 403 sin rol, igual que antes del cambio.</a:t>
            </a:r>
          </a:p>
        </p:txBody>
      </p:sp>
      <p:pic>
        <p:nvPicPr>
          <p:cNvPr id="9" name="Picture 8" descr="01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4828032" cy="3017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61404" y="1815084"/>
            <a:ext cx="4855464" cy="3044951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919472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57089"/>
                </a:solidFill>
                <a:latin typeface="Segoe UI"/>
              </a:rPr>
              <a:t>Cabecera con «Administrador · ADMIN»: prueba de sesión iniciada (captura real).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5285232"/>
            <a:ext cx="4828032" cy="969264"/>
          </a:xfrm>
          <a:prstGeom prst="roundRect">
            <a:avLst>
              <a:gd name="adj" fmla="val 10000"/>
            </a:avLst>
          </a:prstGeom>
          <a:solidFill>
            <a:srgbClr val="E8F0FD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537667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0253F"/>
                </a:solidFill>
                <a:latin typeface="Segoe UI"/>
              </a:rPr>
              <a:t>En la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687568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950" b="1">
                <a:solidFill>
                  <a:srgbClr val="1769E0"/>
                </a:solidFill>
                <a:latin typeface="Segoe UI"/>
              </a:rPr>
              <a:t>▸  </a:t>
            </a:r>
            <a:r>
              <a:rPr sz="950">
                <a:solidFill>
                  <a:srgbClr val="172033"/>
                </a:solidFill>
                <a:latin typeface="Segoe UI"/>
              </a:rPr>
              <a:t>Login correcto e incorrecto.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950" b="1">
                <a:solidFill>
                  <a:srgbClr val="1769E0"/>
                </a:solidFill>
                <a:latin typeface="Segoe UI"/>
              </a:rPr>
              <a:t>▸  </a:t>
            </a:r>
            <a:r>
              <a:rPr sz="950">
                <a:solidFill>
                  <a:srgbClr val="172033"/>
                </a:solidFill>
                <a:latin typeface="Segoe UI"/>
              </a:rPr>
              <a:t>Identidad y rol visibles en la cabecera.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6364224"/>
            <a:ext cx="10820095" cy="10972"/>
          </a:xfrm>
          <a:prstGeom prst="rect">
            <a:avLst/>
          </a:prstGeom>
          <a:solidFill>
            <a:srgbClr val="DF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57089"/>
                </a:solidFill>
                <a:latin typeface="Segoe UI"/>
              </a:rPr>
              <a:t>Grupo 2 · Sistema de Gestión Administrativa y de Caja — De monolito a microservicios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3737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57089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502920" cy="50292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769E0"/>
                </a:solidFill>
                <a:latin typeface="Segoe UI"/>
              </a:rPr>
              <a:t>INTEGRANTE 1 · JOSÉ PATRICIO HIDALGO SALAS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100" b="1" i="0">
                <a:solidFill>
                  <a:srgbClr val="10253F"/>
                </a:solidFill>
                <a:latin typeface="Segoe UI"/>
              </a:rPr>
              <a:t>API Gateway: una sola puerta de entrada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57089"/>
                </a:solidFill>
                <a:latin typeface="Segoe UI"/>
              </a:rPr>
              <a:t>api-gateway · puerto 9101 · 10 rutas por prefijo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55648"/>
            <a:ext cx="5760720" cy="4526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64008" cy="4197096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56816"/>
            <a:ext cx="5212080" cy="4233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Ruteo:** /api/auth/** → identity, /api/socios,giros,puestos,servicios,bancos → catalog, /api/cuentas,recibos,egresos,reportes → cash.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Sin Eureka:** las URLs vienen de variables de entorno; nada de descubrimiento de servicios.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Prefijo desconocido:** responde 404 del gateway (no 500 ni timeout).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CORS centralizado** para el frontend en :4400.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Salud:** /actuator/health y rutas visibles en /actuator/gateway/routes.</a:t>
            </a:r>
          </a:p>
        </p:txBody>
      </p:sp>
      <p:pic>
        <p:nvPicPr>
          <p:cNvPr id="9" name="Picture 8" descr="01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4828032" cy="3017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61404" y="1815084"/>
            <a:ext cx="4855464" cy="3044951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919472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57089"/>
                </a:solidFill>
                <a:latin typeface="Segoe UI"/>
              </a:rPr>
              <a:t>Cabecera del frontend ya apunta al gateway; se ve "Administrador · ADMIN".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5285232"/>
            <a:ext cx="4828032" cy="969264"/>
          </a:xfrm>
          <a:prstGeom prst="roundRect">
            <a:avLst>
              <a:gd name="adj" fmla="val 10000"/>
            </a:avLst>
          </a:prstGeom>
          <a:solidFill>
            <a:srgbClr val="E8F0FD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537667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0253F"/>
                </a:solidFill>
                <a:latin typeface="Segoe UI"/>
              </a:rPr>
              <a:t>En la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687568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950" b="1">
                <a:solidFill>
                  <a:srgbClr val="1769E0"/>
                </a:solidFill>
                <a:latin typeface="Segoe UI"/>
              </a:rPr>
              <a:t>▸  </a:t>
            </a:r>
            <a:r>
              <a:rPr sz="950">
                <a:solidFill>
                  <a:srgbClr val="172033"/>
                </a:solidFill>
                <a:latin typeface="Segoe UI"/>
              </a:rPr>
              <a:t>curl al health de los 4 servicios.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950" b="1">
                <a:solidFill>
                  <a:srgbClr val="1769E0"/>
                </a:solidFill>
                <a:latin typeface="Segoe UI"/>
              </a:rPr>
              <a:t>▸  </a:t>
            </a:r>
            <a:r>
              <a:rPr sz="950">
                <a:solidFill>
                  <a:srgbClr val="172033"/>
                </a:solidFill>
                <a:latin typeface="Segoe UI"/>
              </a:rPr>
              <a:t>curl a /api/inexistente → 404 del gateway.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6364224"/>
            <a:ext cx="10820095" cy="10972"/>
          </a:xfrm>
          <a:prstGeom prst="rect">
            <a:avLst/>
          </a:prstGeom>
          <a:solidFill>
            <a:srgbClr val="DF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57089"/>
                </a:solidFill>
                <a:latin typeface="Segoe UI"/>
              </a:rPr>
              <a:t>Grupo 2 · Sistema de Gestión Administrativa y de Caja — De monolito a microservicios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3737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57089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502920" cy="50292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769E0"/>
                </a:solidFill>
                <a:latin typeface="Segoe UI"/>
              </a:rPr>
              <a:t>INTEGRANTE 2 · GERARDO MATÍAS CALIZAYA ALVAREZ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100" b="1" i="0">
                <a:solidFill>
                  <a:srgbClr val="10253F"/>
                </a:solidFill>
                <a:latin typeface="Segoe UI"/>
              </a:rPr>
              <a:t>catalog-service: los datos que todos necesitan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57089"/>
                </a:solidFill>
                <a:latin typeface="Segoe UI"/>
              </a:rPr>
              <a:t>catalog-service · puerto 9103 · 25 operaciones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55648"/>
            <a:ext cx="5760720" cy="4526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64008" cy="4197096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56816"/>
            <a:ext cx="5212080" cy="4233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Cinco catálogos:** socios, giros, puestos, servicios y bancos.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Puesto:** giro obligatorio, socio opcional, vigencia con fechas de inicio y fin.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Servicio:** fijo o dependiente de consumo; moneda y si se cobra al puesto o al socio.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Mismas validaciones** y mensajes de error que el monolito.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Cero cambios de contrato:** el JSON de salida es idéntico al de antes.</a:t>
            </a:r>
          </a:p>
        </p:txBody>
      </p:sp>
      <p:pic>
        <p:nvPicPr>
          <p:cNvPr id="9" name="Picture 8" descr="02-soc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4828032" cy="3017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61404" y="1815084"/>
            <a:ext cx="4855464" cy="3044951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919472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57089"/>
                </a:solidFill>
                <a:latin typeface="Segoe UI"/>
              </a:rPr>
              <a:t>Catálogo de socios con 25 registros (captura real del front).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5285232"/>
            <a:ext cx="4828032" cy="969264"/>
          </a:xfrm>
          <a:prstGeom prst="roundRect">
            <a:avLst>
              <a:gd name="adj" fmla="val 10000"/>
            </a:avLst>
          </a:prstGeom>
          <a:solidFill>
            <a:srgbClr val="E8F0FD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537667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0253F"/>
                </a:solidFill>
                <a:latin typeface="Segoe UI"/>
              </a:rPr>
              <a:t>En la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687568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950" b="1">
                <a:solidFill>
                  <a:srgbClr val="1769E0"/>
                </a:solidFill>
                <a:latin typeface="Segoe UI"/>
              </a:rPr>
              <a:t>▸  </a:t>
            </a:r>
            <a:r>
              <a:rPr sz="950">
                <a:solidFill>
                  <a:srgbClr val="172033"/>
                </a:solidFill>
                <a:latin typeface="Segoe UI"/>
              </a:rPr>
              <a:t>CRUD de un puesto con socio opcional.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950" b="1">
                <a:solidFill>
                  <a:srgbClr val="1769E0"/>
                </a:solidFill>
                <a:latin typeface="Segoe UI"/>
              </a:rPr>
              <a:t>▸  </a:t>
            </a:r>
            <a:r>
              <a:rPr sz="950">
                <a:solidFill>
                  <a:srgbClr val="172033"/>
                </a:solidFill>
                <a:latin typeface="Segoe UI"/>
              </a:rPr>
              <a:t>Servicio fijo vs. servicio por consumo.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6364224"/>
            <a:ext cx="10820095" cy="10972"/>
          </a:xfrm>
          <a:prstGeom prst="rect">
            <a:avLst/>
          </a:prstGeom>
          <a:solidFill>
            <a:srgbClr val="DF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57089"/>
                </a:solidFill>
                <a:latin typeface="Segoe UI"/>
              </a:rPr>
              <a:t>Grupo 2 · Sistema de Gestión Administrativa y de Caja — De monolito a microservicios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3737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57089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502920" cy="50292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769E0"/>
                </a:solidFill>
                <a:latin typeface="Segoe UI"/>
              </a:rPr>
              <a:t>INTEGRANTE 2 · GERARDO MATÍAS CALIZAYA ALVAREZ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100" b="1" i="0">
                <a:solidFill>
                  <a:srgbClr val="10253F"/>
                </a:solidFill>
                <a:latin typeface="Segoe UI"/>
              </a:rPr>
              <a:t>Un dato, un solo dueño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57089"/>
                </a:solidFill>
                <a:latin typeface="Segoe UI"/>
              </a:rPr>
              <a:t>fronteras de datos · snapshots · sin FK cruzadas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55648"/>
            <a:ext cx="5760720" cy="4526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64008" cy="4197096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56816"/>
            <a:ext cx="5212080" cy="4233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Cada tabla tiene un dueño:** solo su servicio la escribe.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Caja no tiene FK hacia catálogo:** guarda IDs más una copia (snapshot) congelada al emitir el documento.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Ejemplo:** un recibo guarda los nombres del socio tal como estaban al cobrar; si el socio cambia después, el recibo histórico no se altera.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Lecturas cruzadas por HTTP** con CatalogoClient, timeouts 1.5 s / 3 s y sin reintentos (evita duplicar recibos).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5285232"/>
            <a:ext cx="4828032" cy="969264"/>
          </a:xfrm>
          <a:prstGeom prst="roundRect">
            <a:avLst>
              <a:gd name="adj" fmla="val 10000"/>
            </a:avLst>
          </a:prstGeom>
          <a:solidFill>
            <a:srgbClr val="E8F0FD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537667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0253F"/>
                </a:solidFill>
                <a:latin typeface="Segoe UI"/>
              </a:rPr>
              <a:t>¿Por qué así?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687568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950" b="1">
                <a:solidFill>
                  <a:srgbClr val="1769E0"/>
                </a:solidFill>
                <a:latin typeface="Segoe UI"/>
              </a:rPr>
              <a:t>▸  </a:t>
            </a:r>
            <a:r>
              <a:rPr sz="950">
                <a:solidFill>
                  <a:srgbClr val="172033"/>
                </a:solidFill>
                <a:latin typeface="Segoe UI"/>
              </a:rPr>
              <a:t>Independencia real entre servicios.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950" b="1">
                <a:solidFill>
                  <a:srgbClr val="1769E0"/>
                </a:solidFill>
                <a:latin typeface="Segoe UI"/>
              </a:rPr>
              <a:t>▸  </a:t>
            </a:r>
            <a:r>
              <a:rPr sz="950">
                <a:solidFill>
                  <a:srgbClr val="172033"/>
                </a:solidFill>
                <a:latin typeface="Segoe UI"/>
              </a:rPr>
              <a:t>Trazabilidad de documentos sin depender de datos ajenos.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64224"/>
            <a:ext cx="10820095" cy="10972"/>
          </a:xfrm>
          <a:prstGeom prst="rect">
            <a:avLst/>
          </a:prstGeom>
          <a:solidFill>
            <a:srgbClr val="DF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57089"/>
                </a:solidFill>
                <a:latin typeface="Segoe UI"/>
              </a:rPr>
              <a:t>Grupo 2 · Sistema de Gestión Administrativa y de Caja — De monolito a microservicios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57089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502920" cy="50292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769E0"/>
                </a:solidFill>
                <a:latin typeface="Segoe UI"/>
              </a:rPr>
              <a:t>INTEGRANTE 3 · JUAN ALONSO ESTEBAN PAJUELO CHIPANA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100" b="1" i="0">
                <a:solidFill>
                  <a:srgbClr val="10253F"/>
                </a:solidFill>
                <a:latin typeface="Segoe UI"/>
              </a:rPr>
              <a:t>Caja: de la deuda al pago en un solo flujo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57089"/>
                </a:solidFill>
                <a:latin typeface="Segoe UI"/>
              </a:rPr>
              <a:t>cash-service · puerto 9104 · cuentas y recibos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55648"/>
            <a:ext cx="5760720" cy="4526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64008" cy="4197096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56816"/>
            <a:ext cx="5212080" cy="4233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Cuentas individuales o masivas** por puesto o socio, filtradas por etapa.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Cada cuenta:** servicio + periodo + monto (o costo unitario × consumo).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Pago o exoneración** individual y en lote, con total seleccionado visible.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Estados:** PENDIENTE → PAGADA / EXONERADA; una deuda no se paga dos veces.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Consulta** de cuentas por puesto o socio con resumen consolidado.</a:t>
            </a:r>
          </a:p>
        </p:txBody>
      </p:sp>
      <p:pic>
        <p:nvPicPr>
          <p:cNvPr id="9" name="Picture 8" descr="03-cuen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4828032" cy="3017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61404" y="1815084"/>
            <a:ext cx="4855464" cy="3044951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919472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57089"/>
                </a:solidFill>
                <a:latin typeface="Segoe UI"/>
              </a:rPr>
              <a:t>Generación de cuentas y tabla de cobranza (captura real).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5285232"/>
            <a:ext cx="4828032" cy="969264"/>
          </a:xfrm>
          <a:prstGeom prst="roundRect">
            <a:avLst>
              <a:gd name="adj" fmla="val 10000"/>
            </a:avLst>
          </a:prstGeom>
          <a:solidFill>
            <a:srgbClr val="E8F0FD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537667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0253F"/>
                </a:solidFill>
                <a:latin typeface="Segoe UI"/>
              </a:rPr>
              <a:t>En la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687568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950" b="1">
                <a:solidFill>
                  <a:srgbClr val="1769E0"/>
                </a:solidFill>
                <a:latin typeface="Segoe UI"/>
              </a:rPr>
              <a:t>▸  </a:t>
            </a:r>
            <a:r>
              <a:rPr sz="950">
                <a:solidFill>
                  <a:srgbClr val="172033"/>
                </a:solidFill>
                <a:latin typeface="Segoe UI"/>
              </a:rPr>
              <a:t>Cuenta masiva y pago en lote con selección múltiple.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950" b="1">
                <a:solidFill>
                  <a:srgbClr val="1769E0"/>
                </a:solidFill>
                <a:latin typeface="Segoe UI"/>
              </a:rPr>
              <a:t>▸  </a:t>
            </a:r>
            <a:r>
              <a:rPr sz="950">
                <a:solidFill>
                  <a:srgbClr val="172033"/>
                </a:solidFill>
                <a:latin typeface="Segoe UI"/>
              </a:rPr>
              <a:t>Voucher detallado del recibo emitido.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6364224"/>
            <a:ext cx="10820095" cy="10972"/>
          </a:xfrm>
          <a:prstGeom prst="rect">
            <a:avLst/>
          </a:prstGeom>
          <a:solidFill>
            <a:srgbClr val="DF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57089"/>
                </a:solidFill>
                <a:latin typeface="Segoe UI"/>
              </a:rPr>
              <a:t>Grupo 2 · Sistema de Gestión Administrativa y de Caja — De monolito a microservicios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3737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57089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502920" cy="50292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769E0"/>
                </a:solidFill>
                <a:latin typeface="Segoe UI"/>
              </a:rPr>
              <a:t>INTEGRANTE 3 · JUAN ALONSO ESTEBAN PAJUELO CHIPANA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100" b="1" i="0">
                <a:solidFill>
                  <a:srgbClr val="10253F"/>
                </a:solidFill>
                <a:latin typeface="Segoe UI"/>
              </a:rPr>
              <a:t>Recibos: numeración sin huecos ni repetidos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57089"/>
                </a:solidFill>
                <a:latin typeface="Segoe UI"/>
              </a:rPr>
              <a:t>correlativos transaccionales · recibos y canjes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55648"/>
            <a:ext cx="5760720" cy="4526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64008" cy="4197096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56816"/>
            <a:ext cx="5212080" cy="4233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Correlativo único:** REC-000221, bloqueado en su propia tabla dentro de la transacción.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Si falla la transacción, el número no se consume.**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Un recibo por pago** con destinatario, concepto y usuario que cobró.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Canjes bancarios e ingresos externos** usan el mismo mecanismo; simulados, no mueven dinero real.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0 duplicados** verificados en pruebas de correlativos.</a:t>
            </a:r>
          </a:p>
        </p:txBody>
      </p:sp>
      <p:pic>
        <p:nvPicPr>
          <p:cNvPr id="9" name="Picture 8" descr="04-recib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4828032" cy="3017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61404" y="1815084"/>
            <a:ext cx="4855464" cy="3044951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919472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57089"/>
                </a:solidFill>
                <a:latin typeface="Segoe UI"/>
              </a:rPr>
              <a:t>Recibos de ingreso con correlativos REC-000221 en adelante (captura real).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5285232"/>
            <a:ext cx="4828032" cy="969264"/>
          </a:xfrm>
          <a:prstGeom prst="roundRect">
            <a:avLst>
              <a:gd name="adj" fmla="val 10000"/>
            </a:avLst>
          </a:prstGeom>
          <a:solidFill>
            <a:srgbClr val="E8F0FD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537667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0253F"/>
                </a:solidFill>
                <a:latin typeface="Segoe UI"/>
              </a:rPr>
              <a:t>En la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687568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950" b="1">
                <a:solidFill>
                  <a:srgbClr val="1769E0"/>
                </a:solidFill>
                <a:latin typeface="Segoe UI"/>
              </a:rPr>
              <a:t>▸  </a:t>
            </a:r>
            <a:r>
              <a:rPr sz="950">
                <a:solidFill>
                  <a:srgbClr val="172033"/>
                </a:solidFill>
                <a:latin typeface="Segoe UI"/>
              </a:rPr>
              <a:t>Emisión de recibo y apertura de su voucher.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950" b="1">
                <a:solidFill>
                  <a:srgbClr val="1769E0"/>
                </a:solidFill>
                <a:latin typeface="Segoe UI"/>
              </a:rPr>
              <a:t>▸  </a:t>
            </a:r>
            <a:r>
              <a:rPr sz="950">
                <a:solidFill>
                  <a:srgbClr val="172033"/>
                </a:solidFill>
                <a:latin typeface="Segoe UI"/>
              </a:rPr>
              <a:t>Canje bancario simulado (sin pasarela).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6364224"/>
            <a:ext cx="10820095" cy="10972"/>
          </a:xfrm>
          <a:prstGeom prst="rect">
            <a:avLst/>
          </a:prstGeom>
          <a:solidFill>
            <a:srgbClr val="DF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57089"/>
                </a:solidFill>
                <a:latin typeface="Segoe UI"/>
              </a:rPr>
              <a:t>Grupo 2 · Sistema de Gestión Administrativa y de Caja — De monolito a microservicios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3737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57089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502920" cy="50292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769E0"/>
                </a:solidFill>
                <a:latin typeface="Segoe UI"/>
              </a:rPr>
              <a:t>INTEGRANTE 4 · SALVADOR ROQUE TUPA CHURATA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100" b="1" i="0">
                <a:solidFill>
                  <a:srgbClr val="10253F"/>
                </a:solidFill>
                <a:latin typeface="Segoe UI"/>
              </a:rPr>
              <a:t>Tesorería: egresos y reportes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57089"/>
                </a:solidFill>
                <a:latin typeface="Segoe UI"/>
              </a:rPr>
              <a:t>cash-service · egresos, canjes y exportaciones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55648"/>
            <a:ext cx="5760720" cy="4526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64008" cy="4197096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56816"/>
            <a:ext cx="5212080" cy="4233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Egresos individuales o por CSV**, con procesamiento y anulación.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Comprobantes correlativos** para cada egreso registrado.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Reportes XLSX:** diarios, mensuales, de socios, de egresos y de bancos.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Catálogo de bancos** referencial para canjes simulados.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Todo queda como constancia interna:** no mueve dinero ni se conecta a terceros.</a:t>
            </a:r>
          </a:p>
        </p:txBody>
      </p:sp>
      <p:pic>
        <p:nvPicPr>
          <p:cNvPr id="9" name="Picture 8" descr="05-egre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4828032" cy="3017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61404" y="1815084"/>
            <a:ext cx="4855464" cy="3044951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919472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57089"/>
                </a:solidFill>
                <a:latin typeface="Segoe UI"/>
              </a:rPr>
              <a:t>Registro de egresos con historial y botón Procesar (captura real).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5285232"/>
            <a:ext cx="4828032" cy="969264"/>
          </a:xfrm>
          <a:prstGeom prst="roundRect">
            <a:avLst>
              <a:gd name="adj" fmla="val 10000"/>
            </a:avLst>
          </a:prstGeom>
          <a:solidFill>
            <a:srgbClr val="E8F0FD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537667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0253F"/>
                </a:solidFill>
                <a:latin typeface="Segoe UI"/>
              </a:rPr>
              <a:t>En la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687568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950" b="1">
                <a:solidFill>
                  <a:srgbClr val="1769E0"/>
                </a:solidFill>
                <a:latin typeface="Segoe UI"/>
              </a:rPr>
              <a:t>▸  </a:t>
            </a:r>
            <a:r>
              <a:rPr sz="950">
                <a:solidFill>
                  <a:srgbClr val="172033"/>
                </a:solidFill>
                <a:latin typeface="Segoe UI"/>
              </a:rPr>
              <a:t>Importar CSV de egresos y procesar.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950" b="1">
                <a:solidFill>
                  <a:srgbClr val="1769E0"/>
                </a:solidFill>
                <a:latin typeface="Segoe UI"/>
              </a:rPr>
              <a:t>▸  </a:t>
            </a:r>
            <a:r>
              <a:rPr sz="950">
                <a:solidFill>
                  <a:srgbClr val="172033"/>
                </a:solidFill>
                <a:latin typeface="Segoe UI"/>
              </a:rPr>
              <a:t>Descargar reporte XLSX mensual.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6364224"/>
            <a:ext cx="10820095" cy="10972"/>
          </a:xfrm>
          <a:prstGeom prst="rect">
            <a:avLst/>
          </a:prstGeom>
          <a:solidFill>
            <a:srgbClr val="DF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57089"/>
                </a:solidFill>
                <a:latin typeface="Segoe UI"/>
              </a:rPr>
              <a:t>Grupo 2 · Sistema de Gestión Administrativa y de Caja — De monolito a microservicios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3737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57089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502920" cy="50292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769E0"/>
                </a:solidFill>
                <a:latin typeface="Segoe UI"/>
              </a:rPr>
              <a:t>INTEGRANTE 4 · SALVADOR ROQUE TUPA CHURATA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100" b="1" i="0">
                <a:solidFill>
                  <a:srgbClr val="10253F"/>
                </a:solidFill>
                <a:latin typeface="Segoe UI"/>
              </a:rPr>
              <a:t>El frontend no se reescribió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57089"/>
                </a:solidFill>
                <a:latin typeface="Segoe UI"/>
              </a:rPr>
              <a:t>Angular 21 · único cambio: apiUrl al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55648"/>
            <a:ext cx="5760720" cy="4526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64008" cy="4197096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56816"/>
            <a:ext cx="5212080" cy="4233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Angular 21 con 13 pantallas y 10 servicios HTTP** se mantienen intactos.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Un solo cambio de configuración:** apiUrl de 9090 a 9101 (gateway).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Interceptor** agrega el JWT a cada petición.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Guard** protege las rutas y los roles ocultan acciones según el usuario.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Contrato JSON idéntico:** mismos nombres de campos y anidamientos que antes.</a:t>
            </a:r>
          </a:p>
        </p:txBody>
      </p:sp>
      <p:pic>
        <p:nvPicPr>
          <p:cNvPr id="9" name="Picture 8" descr="06-repor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4828032" cy="3017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61404" y="1815084"/>
            <a:ext cx="4855464" cy="3044951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919472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57089"/>
                </a:solidFill>
                <a:latin typeface="Segoe UI"/>
              </a:rPr>
              <a:t>Pantalla de Reportes con exportaciones XLSX (captura real).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5285232"/>
            <a:ext cx="4828032" cy="969264"/>
          </a:xfrm>
          <a:prstGeom prst="roundRect">
            <a:avLst>
              <a:gd name="adj" fmla="val 10000"/>
            </a:avLst>
          </a:prstGeom>
          <a:solidFill>
            <a:srgbClr val="E8F0FD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537667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0253F"/>
                </a:solidFill>
                <a:latin typeface="Segoe UI"/>
              </a:rPr>
              <a:t>En la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687568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950" b="1">
                <a:solidFill>
                  <a:srgbClr val="1769E0"/>
                </a:solidFill>
                <a:latin typeface="Segoe UI"/>
              </a:rPr>
              <a:t>▸  </a:t>
            </a:r>
            <a:r>
              <a:rPr sz="950">
                <a:solidFill>
                  <a:srgbClr val="172033"/>
                </a:solidFill>
                <a:latin typeface="Segoe UI"/>
              </a:rPr>
              <a:t>Navegar por todas las pantallas sin recargar sesión.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950" b="1">
                <a:solidFill>
                  <a:srgbClr val="1769E0"/>
                </a:solidFill>
                <a:latin typeface="Segoe UI"/>
              </a:rPr>
              <a:t>▸  </a:t>
            </a:r>
            <a:r>
              <a:rPr sz="950">
                <a:solidFill>
                  <a:srgbClr val="172033"/>
                </a:solidFill>
                <a:latin typeface="Segoe UI"/>
              </a:rPr>
              <a:t>Cabecera muestra rol y permite cerrar sesión.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6364224"/>
            <a:ext cx="10820095" cy="10972"/>
          </a:xfrm>
          <a:prstGeom prst="rect">
            <a:avLst/>
          </a:prstGeom>
          <a:solidFill>
            <a:srgbClr val="DF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57089"/>
                </a:solidFill>
                <a:latin typeface="Segoe UI"/>
              </a:rPr>
              <a:t>Grupo 2 · Sistema de Gestión Administrativa y de Caja — De monolito a microservicios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3737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57089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502920" cy="50292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769E0"/>
                </a:solidFill>
                <a:latin typeface="Segoe UI"/>
              </a:rPr>
              <a:t>INTEGRANTE 5 · OSCAR EDUARDO CARRILLO BAUTISTA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100" b="1" i="0">
                <a:solidFill>
                  <a:srgbClr val="10253F"/>
                </a:solidFill>
                <a:latin typeface="Segoe UI"/>
              </a:rPr>
              <a:t>Migrar sin apagar el sistema (strangler)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57089"/>
                </a:solidFill>
                <a:latin typeface="Segoe UI"/>
              </a:rPr>
              <a:t>patrón strangler · 4 estados · reversa por configuración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55648"/>
            <a:ext cx="5760720" cy="4526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64008" cy="4197096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56816"/>
            <a:ext cx="5212080" cy="4233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Estado 0:** monolito puro en :9090.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Estado 1:** gateway + identidad; el resto sigue en el monolito.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Estado 2:** gateway + identidad + catálogo; caja aún en monolito.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Estado 3 (final):** gateway → identity, catalog y cash; el monolito queda como respaldo sin tráfico del frontend.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Cada fase deja el sistema funcionando** y es reversible solo cambiando configuración.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5285232"/>
            <a:ext cx="4828032" cy="969264"/>
          </a:xfrm>
          <a:prstGeom prst="roundRect">
            <a:avLst>
              <a:gd name="adj" fmla="val 10000"/>
            </a:avLst>
          </a:prstGeom>
          <a:solidFill>
            <a:srgbClr val="E8F0FD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537667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0253F"/>
                </a:solidFill>
                <a:latin typeface="Segoe UI"/>
              </a:rPr>
              <a:t>En el repo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687568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950" b="1">
                <a:solidFill>
                  <a:srgbClr val="1769E0"/>
                </a:solidFill>
                <a:latin typeface="Segoe UI"/>
              </a:rPr>
              <a:t>▸  </a:t>
            </a:r>
            <a:r>
              <a:rPr sz="950">
                <a:solidFill>
                  <a:srgbClr val="172033"/>
                </a:solidFill>
                <a:latin typeface="Segoe UI"/>
              </a:rPr>
              <a:t>80 commits en 17 ramas, cada tarea con su PR.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950" b="1">
                <a:solidFill>
                  <a:srgbClr val="1769E0"/>
                </a:solidFill>
                <a:latin typeface="Segoe UI"/>
              </a:rPr>
              <a:t>▸  </a:t>
            </a:r>
            <a:r>
              <a:rPr sz="950">
                <a:solidFill>
                  <a:srgbClr val="172033"/>
                </a:solidFill>
                <a:latin typeface="Segoe UI"/>
              </a:rPr>
              <a:t>Monolito intacto en backend/ como respaldo.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64224"/>
            <a:ext cx="10820095" cy="10972"/>
          </a:xfrm>
          <a:prstGeom prst="rect">
            <a:avLst/>
          </a:prstGeom>
          <a:solidFill>
            <a:srgbClr val="DF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57089"/>
                </a:solidFill>
                <a:latin typeface="Segoe UI"/>
              </a:rPr>
              <a:t>Grupo 2 · Sistema de Gestión Administrativa y de Caja — De monolito a microservicios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3737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57089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502920" cy="50292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769E0"/>
                </a:solidFill>
                <a:latin typeface="Segoe UI"/>
              </a:rPr>
              <a:t>INTEGRANTE 5 · OSCAR EDUARDO CARRILLO BAUTISTA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100" b="1" i="0">
                <a:solidFill>
                  <a:srgbClr val="10253F"/>
                </a:solidFill>
                <a:latin typeface="Segoe UI"/>
              </a:rPr>
              <a:t>Cómo sabemos que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57089"/>
                </a:solidFill>
                <a:latin typeface="Segoe UI"/>
              </a:rPr>
              <a:t>calidad, contratos y operación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55648"/>
            <a:ext cx="5760720" cy="4526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64008" cy="4197096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56816"/>
            <a:ext cx="5212080" cy="4233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52 operaciones documentadas** en OpenAPI/Swagger: 2 (identity) + 25 (catalog) + 25 (cash).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Colección Postman** con entornos: recorre login → catálogo → deuda → pago → recibo → reporte.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Pruebas JUnit/Mockito** por servicio y build de Angular.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Flyway:** 11 migraciones crean las 3 bases desde cero.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50" b="1">
                <a:solidFill>
                  <a:srgbClr val="1769E0"/>
                </a:solidFill>
                <a:latin typeface="Segoe UI"/>
              </a:rPr>
              <a:t>▸  </a:t>
            </a:r>
            <a:r>
              <a:rPr sz="1250" b="1">
                <a:solidFill>
                  <a:srgbClr val="172033"/>
                </a:solidFill>
                <a:latin typeface="Segoe UI"/>
              </a:rPr>
              <a:t/>
            </a:r>
            <a:r>
              <a:rPr sz="1250" b="0">
                <a:solidFill>
                  <a:srgbClr val="657089"/>
                </a:solidFill>
                <a:latin typeface="Segoe UI"/>
              </a:rPr>
              <a:t>Actuator health** en los 4 servicios; gateway responde 404 a prefijos no listados.</a:t>
            </a:r>
          </a:p>
        </p:txBody>
      </p:sp>
      <p:pic>
        <p:nvPicPr>
          <p:cNvPr id="9" name="Picture 8" descr="09-swa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4828032" cy="3017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61404" y="1815084"/>
            <a:ext cx="4855464" cy="3044951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919472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57089"/>
                </a:solidFill>
                <a:latin typeface="Segoe UI"/>
              </a:rPr>
              <a:t>Swagger de catalog-service (captura real de Chrome DevTools).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5285232"/>
            <a:ext cx="4828032" cy="969264"/>
          </a:xfrm>
          <a:prstGeom prst="roundRect">
            <a:avLst>
              <a:gd name="adj" fmla="val 10000"/>
            </a:avLst>
          </a:prstGeom>
          <a:solidFill>
            <a:srgbClr val="E8F0FD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537667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0253F"/>
                </a:solidFill>
                <a:latin typeface="Segoe UI"/>
              </a:rPr>
              <a:t>En la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687568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950" b="1">
                <a:solidFill>
                  <a:srgbClr val="1769E0"/>
                </a:solidFill>
                <a:latin typeface="Segoe UI"/>
              </a:rPr>
              <a:t>▸  </a:t>
            </a:r>
            <a:r>
              <a:rPr sz="950">
                <a:solidFill>
                  <a:srgbClr val="172033"/>
                </a:solidFill>
                <a:latin typeface="Segoe UI"/>
              </a:rPr>
              <a:t>Abrir /v3/api-docs de un servicio.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950" b="1">
                <a:solidFill>
                  <a:srgbClr val="1769E0"/>
                </a:solidFill>
                <a:latin typeface="Segoe UI"/>
              </a:rPr>
              <a:t>▸  </a:t>
            </a:r>
            <a:r>
              <a:rPr sz="950">
                <a:solidFill>
                  <a:srgbClr val="172033"/>
                </a:solidFill>
                <a:latin typeface="Segoe UI"/>
              </a:rPr>
              <a:t>Ejecutar la colección Postman completa.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6364224"/>
            <a:ext cx="10820095" cy="10972"/>
          </a:xfrm>
          <a:prstGeom prst="rect">
            <a:avLst/>
          </a:prstGeom>
          <a:solidFill>
            <a:srgbClr val="DF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57089"/>
                </a:solidFill>
                <a:latin typeface="Segoe UI"/>
              </a:rPr>
              <a:t>Grupo 2 · Sistema de Gestión Administrativa y de Caja — De monolito a microservicios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3737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57089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384048"/>
            <a:ext cx="502920" cy="50292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769E0"/>
                </a:solidFill>
                <a:latin typeface="Segoe UI"/>
              </a:rPr>
              <a:t>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100" b="1" i="0">
                <a:solidFill>
                  <a:srgbClr val="10253F"/>
                </a:solidFill>
                <a:latin typeface="Segoe UI"/>
              </a:rPr>
              <a:t>Lo que entregamos en números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57089"/>
                </a:solidFill>
                <a:latin typeface="Segoe UI"/>
              </a:rPr>
              <a:t>Cifras clave del proyecto de microservicios.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719072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95144" y="1947672"/>
            <a:ext cx="54864" cy="630936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911095"/>
            <a:ext cx="13075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10253F"/>
                </a:solidFill>
                <a:latin typeface="Segoe UI"/>
              </a:rPr>
              <a:t>3 servicios + 1 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432304"/>
            <a:ext cx="1307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57089"/>
                </a:solidFill>
                <a:latin typeface="Segoe UI"/>
              </a:rPr>
              <a:t>identity, catalog, cash y api-gateway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6312" y="1783080"/>
            <a:ext cx="1719072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05655" y="1947672"/>
            <a:ext cx="54864" cy="630936"/>
          </a:xfrm>
          <a:prstGeom prst="rect">
            <a:avLst/>
          </a:prstGeom>
          <a:solidFill>
            <a:srgbClr val="187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1911095"/>
            <a:ext cx="13075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10253F"/>
                </a:solidFill>
                <a:latin typeface="Segoe UI"/>
              </a:rPr>
              <a:t>52 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2432304"/>
            <a:ext cx="1307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57089"/>
                </a:solidFill>
                <a:latin typeface="Segoe UI"/>
              </a:rPr>
              <a:t>documentados en OpenAPI/Swagger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6824" y="1783080"/>
            <a:ext cx="1719072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16168" y="1947672"/>
            <a:ext cx="54864" cy="630936"/>
          </a:xfrm>
          <a:prstGeom prst="rect">
            <a:avLst/>
          </a:prstGeom>
          <a:solidFill>
            <a:srgbClr val="DC7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911095"/>
            <a:ext cx="13075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10253F"/>
                </a:solidFill>
                <a:latin typeface="Segoe UI"/>
              </a:rPr>
              <a:t>3 bases de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432304"/>
            <a:ext cx="1307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57089"/>
                </a:solidFill>
                <a:latin typeface="Segoe UI"/>
              </a:rPr>
              <a:t>una por servicio, creadas con Flyway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17336" y="1783080"/>
            <a:ext cx="1719072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26680" y="1947672"/>
            <a:ext cx="54864" cy="630936"/>
          </a:xfrm>
          <a:prstGeom prst="rect">
            <a:avLst/>
          </a:prstGeom>
          <a:solidFill>
            <a:srgbClr val="76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1911095"/>
            <a:ext cx="13075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10253F"/>
                </a:solidFill>
                <a:latin typeface="Segoe UI"/>
              </a:rPr>
              <a:t>10 rutas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432304"/>
            <a:ext cx="1307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57089"/>
                </a:solidFill>
                <a:latin typeface="Segoe UI"/>
              </a:rPr>
              <a:t>del gateway, ninguna al monolito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27848" y="1783080"/>
            <a:ext cx="1719072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37192" y="1947672"/>
            <a:ext cx="54864" cy="630936"/>
          </a:xfrm>
          <a:prstGeom prst="rect">
            <a:avLst/>
          </a:prstGeom>
          <a:solidFill>
            <a:srgbClr val="10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47304" y="1911095"/>
            <a:ext cx="13075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10253F"/>
                </a:solidFill>
                <a:latin typeface="Segoe UI"/>
              </a:rPr>
              <a:t>2 roles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7304" y="2432304"/>
            <a:ext cx="1307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57089"/>
                </a:solidFill>
                <a:latin typeface="Segoe UI"/>
              </a:rPr>
              <a:t>ADMIN y OPERADOR con permisos intactos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38360" y="1783080"/>
            <a:ext cx="1719072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347704" y="1947672"/>
            <a:ext cx="54864" cy="630936"/>
          </a:xfrm>
          <a:prstGeom prst="rect">
            <a:avLst/>
          </a:prstGeom>
          <a:solidFill>
            <a:srgbClr val="C4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57816" y="1911095"/>
            <a:ext cx="13075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10253F"/>
                </a:solidFill>
                <a:latin typeface="Segoe UI"/>
              </a:rPr>
              <a:t>0 pasarela real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57816" y="2432304"/>
            <a:ext cx="1307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657089"/>
                </a:solidFill>
                <a:latin typeface="Segoe UI"/>
              </a:rPr>
              <a:t>bancos y pagos son simulación académica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063240"/>
            <a:ext cx="6720840" cy="2880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3227832"/>
            <a:ext cx="64008" cy="2551176"/>
          </a:xfrm>
          <a:prstGeom prst="rect">
            <a:avLst/>
          </a:prstGeom>
          <a:solidFill>
            <a:srgbClr val="10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3264408"/>
            <a:ext cx="61539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0253F"/>
                </a:solidFill>
                <a:latin typeface="Segoe UI"/>
              </a:rPr>
              <a:t>Lecciones del equipo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666744"/>
            <a:ext cx="6172200" cy="2185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00" b="1">
                <a:solidFill>
                  <a:srgbClr val="10253F"/>
                </a:solidFill>
                <a:latin typeface="Segoe UI"/>
              </a:rPr>
              <a:t>▸  </a:t>
            </a:r>
            <a:r>
              <a:rPr sz="1200" b="1">
                <a:solidFill>
                  <a:srgbClr val="172033"/>
                </a:solidFill>
                <a:latin typeface="Segoe UI"/>
              </a:rPr>
              <a:t/>
            </a:r>
            <a:r>
              <a:rPr sz="1200" b="0">
                <a:solidFill>
                  <a:srgbClr val="657089"/>
                </a:solidFill>
                <a:latin typeface="Segoe UI"/>
              </a:rPr>
              <a:t>El contrato manda:** migrar sin romper el JSON evitó tocar el frontend.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00" b="1">
                <a:solidFill>
                  <a:srgbClr val="10253F"/>
                </a:solidFill>
                <a:latin typeface="Segoe UI"/>
              </a:rPr>
              <a:t>▸  </a:t>
            </a:r>
            <a:r>
              <a:rPr sz="1200" b="1">
                <a:solidFill>
                  <a:srgbClr val="172033"/>
                </a:solidFill>
                <a:latin typeface="Segoe UI"/>
              </a:rPr>
              <a:t/>
            </a:r>
            <a:r>
              <a:rPr sz="1200" b="0">
                <a:solidFill>
                  <a:srgbClr val="657089"/>
                </a:solidFill>
                <a:latin typeface="Segoe UI"/>
              </a:rPr>
              <a:t>Sin transacciones distribuidas:** snapshots + un dueño por dato bastaron.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00" b="1">
                <a:solidFill>
                  <a:srgbClr val="10253F"/>
                </a:solidFill>
                <a:latin typeface="Segoe UI"/>
              </a:rPr>
              <a:t>▸  </a:t>
            </a:r>
            <a:r>
              <a:rPr sz="1200" b="1">
                <a:solidFill>
                  <a:srgbClr val="172033"/>
                </a:solidFill>
                <a:latin typeface="Segoe UI"/>
              </a:rPr>
              <a:t/>
            </a:r>
            <a:r>
              <a:rPr sz="1200" b="0">
                <a:solidFill>
                  <a:srgbClr val="657089"/>
                </a:solidFill>
                <a:latin typeface="Segoe UI"/>
              </a:rPr>
              <a:t>Simplicidad operativa:** sin Eureka, Kafka, sagas ni contenedores fue una decisión, no una omisión.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200" b="1">
                <a:solidFill>
                  <a:srgbClr val="10253F"/>
                </a:solidFill>
                <a:latin typeface="Segoe UI"/>
              </a:rPr>
              <a:t>▸  </a:t>
            </a:r>
            <a:r>
              <a:rPr sz="1200" b="1">
                <a:solidFill>
                  <a:srgbClr val="172033"/>
                </a:solidFill>
                <a:latin typeface="Segoe UI"/>
              </a:rPr>
              <a:t/>
            </a:r>
            <a:r>
              <a:rPr sz="1200" b="0">
                <a:solidFill>
                  <a:srgbClr val="657089"/>
                </a:solidFill>
                <a:latin typeface="Segoe UI"/>
              </a:rPr>
              <a:t>Lo que falta:** despliegue en contenedores, observabilidad y pruebas de carga.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3063240"/>
            <a:ext cx="3913632" cy="28803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89520" y="3227832"/>
            <a:ext cx="64008" cy="2551176"/>
          </a:xfrm>
          <a:prstGeom prst="rect">
            <a:avLst/>
          </a:prstGeom>
          <a:solidFill>
            <a:srgbClr val="187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3264408"/>
            <a:ext cx="33467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10253F"/>
                </a:solidFill>
                <a:latin typeface="Segoe UI"/>
              </a:rPr>
              <a:t>Ámbito académico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3666744"/>
            <a:ext cx="3364992" cy="2185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150" b="1">
                <a:solidFill>
                  <a:srgbClr val="18794E"/>
                </a:solidFill>
                <a:latin typeface="Segoe UI"/>
              </a:rPr>
              <a:t>▸  </a:t>
            </a:r>
            <a:r>
              <a:rPr sz="1150">
                <a:solidFill>
                  <a:srgbClr val="172033"/>
                </a:solidFill>
                <a:latin typeface="Segoe UI"/>
              </a:rPr>
              <a:t>Sin pasarela de pagos ni bancos reales.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150" b="1">
                <a:solidFill>
                  <a:srgbClr val="18794E"/>
                </a:solidFill>
                <a:latin typeface="Segoe UI"/>
              </a:rPr>
              <a:t>▸  </a:t>
            </a:r>
            <a:r>
              <a:rPr sz="1150">
                <a:solidFill>
                  <a:srgbClr val="172033"/>
                </a:solidFill>
                <a:latin typeface="Segoe UI"/>
              </a:rPr>
              <a:t>Sin OAuth2 ni proveedor de identidad externo.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150" b="1">
                <a:solidFill>
                  <a:srgbClr val="18794E"/>
                </a:solidFill>
                <a:latin typeface="Segoe UI"/>
              </a:rPr>
              <a:t>▸  </a:t>
            </a:r>
            <a:r>
              <a:rPr sz="1150">
                <a:solidFill>
                  <a:srgbClr val="172033"/>
                </a:solidFill>
                <a:latin typeface="Segoe UI"/>
              </a:rPr>
              <a:t>Monolito ejecutable como respaldo manual.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6364224"/>
            <a:ext cx="10820095" cy="10972"/>
          </a:xfrm>
          <a:prstGeom prst="rect">
            <a:avLst/>
          </a:prstGeom>
          <a:solidFill>
            <a:srgbClr val="DF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6437376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57089"/>
                </a:solidFill>
                <a:latin typeface="Segoe UI"/>
              </a:rPr>
              <a:t>Grupo 2 · Sistema de Gestión Administrativa y de Caja — De monolito a microservicios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92840" y="643737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57089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7772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CFDDEA"/>
                </a:solidFill>
                <a:latin typeface="Segoe UI"/>
              </a:rPr>
              <a:t>Gracias por su atención.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657600"/>
            <a:ext cx="1828800" cy="41148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9FC0FF"/>
                </a:solidFill>
                <a:latin typeface="Segoe UI"/>
              </a:rPr>
              <a:t>Grupo 2 · DSW II · Ciclo 6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1596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CFDDEA"/>
                </a:solidFill>
                <a:latin typeface="Segoe UI"/>
              </a:rPr>
              <a:t>Hidalgo Salas, José Patricio · Calizaya Alvarez, Gerardo Matías · Pajuelo Chipana, Juan Alonso Esteban · Tupa Churata, Salvador Roque · Carrillo Bautista, Oscar Eduardo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FC0FF"/>
                </a:solidFill>
                <a:latin typeface="Segoe UI"/>
              </a:rPr>
              <a:t>Código y documentación: repositorio del proyecto (microservices/, frontend/, backend/, docs/).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